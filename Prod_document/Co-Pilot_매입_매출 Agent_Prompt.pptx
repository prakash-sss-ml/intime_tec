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4"/>
  </p:sldMasterIdLst>
  <p:notesMasterIdLst>
    <p:notesMasterId r:id="rId14"/>
  </p:notesMasterIdLst>
  <p:handoutMasterIdLst>
    <p:handoutMasterId r:id="rId15"/>
  </p:handoutMasterIdLst>
  <p:sldIdLst>
    <p:sldId id="7864" r:id="rId5"/>
    <p:sldId id="7865" r:id="rId6"/>
    <p:sldId id="7866" r:id="rId7"/>
    <p:sldId id="7867" r:id="rId8"/>
    <p:sldId id="7869" r:id="rId9"/>
    <p:sldId id="7870" r:id="rId10"/>
    <p:sldId id="7871" r:id="rId11"/>
    <p:sldId id="7872" r:id="rId12"/>
    <p:sldId id="7868" r:id="rId13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4C93F65-1801-4617-BE31-0AC80113F7F0}">
          <p14:sldIdLst/>
        </p14:section>
        <p14:section name="Overview" id="{73A1BA51-9E70-4F0C-AEFB-7BD9633F0505}">
          <p14:sldIdLst>
            <p14:sldId id="7864"/>
            <p14:sldId id="7865"/>
            <p14:sldId id="7866"/>
            <p14:sldId id="7867"/>
            <p14:sldId id="7869"/>
            <p14:sldId id="7870"/>
            <p14:sldId id="7871"/>
            <p14:sldId id="7872"/>
            <p14:sldId id="78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074" userDrawn="1">
          <p15:clr>
            <a:srgbClr val="A4A3A4"/>
          </p15:clr>
        </p15:guide>
        <p15:guide id="3" pos="14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8" userDrawn="1">
          <p15:clr>
            <a:srgbClr val="A4A3A4"/>
          </p15:clr>
        </p15:guide>
        <p15:guide id="2" pos="3126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01966E-EE4B-DE17-12A4-897497199448}" name="김명원" initials="명김" userId="S::mykim@motrex.co.kr::0e0e894a-6fa0-4420-9b20-5db48a2608bc" providerId="AD"/>
  <p188:author id="{3EB3B2C9-52CA-298E-F142-C8901A8C6ED4}" name="황 종원" initials="종황" userId="S::matthew.hwang@axi4cns.co.kr::4782ec3c-3f94-4bbb-a6af-a3cad930d6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000000"/>
    <a:srgbClr val="1F497D"/>
    <a:srgbClr val="FFFFFF"/>
    <a:srgbClr val="0070C0"/>
    <a:srgbClr val="3399FF"/>
    <a:srgbClr val="A6A6A6"/>
    <a:srgbClr val="FBB7D4"/>
    <a:srgbClr val="4F81B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0475D-3CBC-7FB3-50B7-AC1CDA97448D}" v="3" dt="2025-11-18T09:09:24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344"/>
        <p:guide pos="3074"/>
        <p:guide pos="148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138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2E00475D-3CBC-7FB3-50B7-AC1CDA97448D}"/>
    <pc:docChg chg="modSld">
      <pc:chgData name="" userId="" providerId="" clId="Web-{2E00475D-3CBC-7FB3-50B7-AC1CDA97448D}" dt="2025-11-18T09:09:24.456" v="2" actId="14100"/>
      <pc:docMkLst>
        <pc:docMk/>
      </pc:docMkLst>
      <pc:sldChg chg="modSp">
        <pc:chgData name="" userId="" providerId="" clId="Web-{2E00475D-3CBC-7FB3-50B7-AC1CDA97448D}" dt="2025-11-18T09:09:24.456" v="2" actId="14100"/>
        <pc:sldMkLst>
          <pc:docMk/>
          <pc:sldMk cId="313386487" sldId="7864"/>
        </pc:sldMkLst>
        <pc:spChg chg="mod">
          <ac:chgData name="" userId="" providerId="" clId="Web-{2E00475D-3CBC-7FB3-50B7-AC1CDA97448D}" dt="2025-11-18T09:09:24.456" v="2" actId="14100"/>
          <ac:spMkLst>
            <pc:docMk/>
            <pc:sldMk cId="313386487" sldId="7864"/>
            <ac:spMk id="3" creationId="{55FE0AB1-380A-9486-04E2-960A3277C8D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3380A12-DB7B-4959-94D1-F129A58EF5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761387-A3B3-4C9A-A000-956877E7C1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100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8D626-3313-4861-95F0-81BF869FE0E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218D04-F698-45C1-833B-0BB2D80EAC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8CFCFD-D89A-4368-8103-560C0FBD01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100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19D59-228C-416E-B2F2-C0B82E39A6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284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393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1000" y="0"/>
            <a:ext cx="4300167" cy="3393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1AF9F-AE14-42CA-AB64-87D3948AD750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4200" y="509588"/>
            <a:ext cx="3675063" cy="2544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23618"/>
            <a:ext cx="7938770" cy="3053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8"/>
            <a:ext cx="4300167" cy="3393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1000" y="6446058"/>
            <a:ext cx="4300167" cy="3393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BDF9C-AE6B-4522-A254-2469EFE48A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6013" y="802300"/>
            <a:ext cx="608672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6013" y="3531206"/>
            <a:ext cx="608672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6012" y="329309"/>
            <a:ext cx="3343483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4262" y="798973"/>
            <a:ext cx="868839" cy="503578"/>
          </a:xfrm>
        </p:spPr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596013" y="3528542"/>
            <a:ext cx="608672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95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563782" y="1847088"/>
            <a:ext cx="71189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1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782" y="1756130"/>
            <a:ext cx="6085086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783" y="3806197"/>
            <a:ext cx="608508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63782" y="3804985"/>
            <a:ext cx="60850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65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782" y="804891"/>
            <a:ext cx="711895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3781" y="2013936"/>
            <a:ext cx="3386360" cy="3437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6614" y="2013937"/>
            <a:ext cx="3386123" cy="34375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563782" y="1847088"/>
            <a:ext cx="71189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83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563782" y="1847088"/>
            <a:ext cx="71189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782" y="804165"/>
            <a:ext cx="7118956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782" y="2019551"/>
            <a:ext cx="3386247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3782" y="2824271"/>
            <a:ext cx="3386247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6614" y="2023005"/>
            <a:ext cx="33861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96614" y="2821491"/>
            <a:ext cx="3386123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7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563782" y="1847088"/>
            <a:ext cx="71189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0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02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962" y="798973"/>
            <a:ext cx="2628113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5544" y="798974"/>
            <a:ext cx="4147193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8963" y="3205493"/>
            <a:ext cx="2629650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561894" y="3205491"/>
            <a:ext cx="262521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27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412876" y="482172"/>
            <a:ext cx="3804003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494" y="1129513"/>
            <a:ext cx="3515346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10139" y="1122544"/>
            <a:ext cx="242124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3783" y="3145992"/>
            <a:ext cx="3510310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56386" y="5469858"/>
            <a:ext cx="3523455" cy="320123"/>
          </a:xfrm>
        </p:spPr>
        <p:txBody>
          <a:bodyPr/>
          <a:lstStyle>
            <a:lvl1pPr algn="l">
              <a:defRPr/>
            </a:lvl1pPr>
          </a:lstStyle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57325" y="318642"/>
            <a:ext cx="3522516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561388" y="3143605"/>
            <a:ext cx="351218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43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563782" y="1847088"/>
            <a:ext cx="71189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14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94531" y="798975"/>
            <a:ext cx="1194946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3782" y="798975"/>
            <a:ext cx="5742853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24E1-0151-47E1-A00F-A8B688161A37}" type="datetimeFigureOut">
              <a:rPr lang="ko-KR" altLang="en-US" smtClean="0"/>
              <a:pPr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F8A7-D490-4889-86D0-024EAB3893C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494530" y="798975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9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7572376" y="166405"/>
            <a:ext cx="2042161" cy="23070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defRPr sz="83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목차</a:t>
            </a:r>
            <a:r>
              <a:rPr lang="en-US" altLang="ko-KR"/>
              <a:t>(12pt)</a:t>
            </a:r>
            <a:endParaRPr lang="ko-KR" altLang="en-US"/>
          </a:p>
        </p:txBody>
      </p:sp>
      <p:sp>
        <p:nvSpPr>
          <p:cNvPr id="10" name="텍스트 개체 틀 7"/>
          <p:cNvSpPr>
            <a:spLocks noGrp="1"/>
          </p:cNvSpPr>
          <p:nvPr>
            <p:ph type="body" sz="quarter" idx="11" hasCustomPrompt="1"/>
          </p:nvPr>
        </p:nvSpPr>
        <p:spPr>
          <a:xfrm>
            <a:off x="315233" y="298868"/>
            <a:ext cx="7257143" cy="3690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662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r>
              <a:rPr lang="en-US" altLang="ko-KR"/>
              <a:t>(22pt)</a:t>
            </a:r>
            <a:endParaRPr lang="ko-KR" altLang="en-US"/>
          </a:p>
        </p:txBody>
      </p:sp>
      <p:sp>
        <p:nvSpPr>
          <p:cNvPr id="11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15233" y="764704"/>
            <a:ext cx="9299304" cy="58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latinLnBrk="0">
              <a:buNone/>
              <a:defRPr sz="1108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Key Message..(16pt)</a:t>
            </a:r>
          </a:p>
          <a:p>
            <a:pPr lvl="0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3334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 화면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852B0EA-E13A-8567-90C8-3BE61B4C298F}"/>
              </a:ext>
            </a:extLst>
          </p:cNvPr>
          <p:cNvSpPr/>
          <p:nvPr userDrawn="1"/>
        </p:nvSpPr>
        <p:spPr>
          <a:xfrm>
            <a:off x="0" y="476673"/>
            <a:ext cx="9906000" cy="638132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</p:spTree>
    <p:extLst>
      <p:ext uri="{BB962C8B-B14F-4D97-AF65-F5344CB8AC3E}">
        <p14:creationId xmlns:p14="http://schemas.microsoft.com/office/powerpoint/2010/main" val="362198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906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4"/>
            <a:ext cx="9906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906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3782" y="804521"/>
            <a:ext cx="711895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782" y="2015734"/>
            <a:ext cx="711895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17087" y="330370"/>
            <a:ext cx="2565650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3782" y="329309"/>
            <a:ext cx="437017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8369" y="798973"/>
            <a:ext cx="862058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834856-E596-845E-AC89-1FB65444919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794" y="1"/>
            <a:ext cx="9879858" cy="265656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4B39C94-C209-C9BC-BD55-5EBD4AE56A47}"/>
              </a:ext>
            </a:extLst>
          </p:cNvPr>
          <p:cNvSpPr/>
          <p:nvPr userDrawn="1"/>
        </p:nvSpPr>
        <p:spPr>
          <a:xfrm>
            <a:off x="9794" y="6519805"/>
            <a:ext cx="9885867" cy="3303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757D03D-4C9A-7425-C7E1-1E7E8B5E8929}"/>
              </a:ext>
            </a:extLst>
          </p:cNvPr>
          <p:cNvGrpSpPr/>
          <p:nvPr userDrawn="1"/>
        </p:nvGrpSpPr>
        <p:grpSpPr>
          <a:xfrm>
            <a:off x="8409941" y="6620020"/>
            <a:ext cx="1475380" cy="195267"/>
            <a:chOff x="8408590" y="6453336"/>
            <a:chExt cx="1475144" cy="3619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CC42DA-5B97-0414-8579-E9C6DF677EC4}"/>
                </a:ext>
              </a:extLst>
            </p:cNvPr>
            <p:cNvSpPr/>
            <p:nvPr userDrawn="1"/>
          </p:nvSpPr>
          <p:spPr>
            <a:xfrm>
              <a:off x="8408590" y="6453336"/>
              <a:ext cx="1475144" cy="361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46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E5E5798-6B79-D635-04D1-475B2C7B28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9759" y="6525344"/>
              <a:ext cx="1341283" cy="185005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B79177-4052-6A21-7B77-C4BF39146C4D}"/>
              </a:ext>
            </a:extLst>
          </p:cNvPr>
          <p:cNvSpPr/>
          <p:nvPr userDrawn="1"/>
        </p:nvSpPr>
        <p:spPr>
          <a:xfrm>
            <a:off x="10340" y="265659"/>
            <a:ext cx="9885867" cy="6254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</p:spTree>
    <p:extLst>
      <p:ext uri="{BB962C8B-B14F-4D97-AF65-F5344CB8AC3E}">
        <p14:creationId xmlns:p14="http://schemas.microsoft.com/office/powerpoint/2010/main" val="118069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04" r:id="rId13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AAAA-51BF-E144-8D64-D3FF1C1B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F06F904A-D86D-D1B5-37DD-2965FBAFB2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AC65A0-EDC3-C264-B12B-4BFF9AFB2294}"/>
              </a:ext>
            </a:extLst>
          </p:cNvPr>
          <p:cNvSpPr/>
          <p:nvPr/>
        </p:nvSpPr>
        <p:spPr>
          <a:xfrm>
            <a:off x="128464" y="548680"/>
            <a:ext cx="9649072" cy="38884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SELECT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Company.mserp_name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법인코드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Company.mserp_description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법인명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VendTrans.mserp_accountnum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거래처코드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VendTrans.mserp_currencycode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매입지급발생금액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_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외화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매입지급발생금액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_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원화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(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-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VendTrans.mserp_settleamountcur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매입지급잔액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_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외화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,(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VendTrans.mserp_amountmst-VendTrans.mserp_settleamountmst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매입지급잔액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_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원화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VendTrans.mserp_transdate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발생일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VendTrans.mserp_duedate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만기일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정산일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DirPartyTable.mserp_name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거래처명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mserp_ledgerbientity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Company                           		--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법인마스터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JOIN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mserp_vendtransbientity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                  		--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지급 트랜잭션</a:t>
            </a: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ON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VendTrans.mserp_dataareaid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Company.mserp_name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JOIN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DBO.mserp_vendtablebientity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VendTable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                  		--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매입처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마스터</a:t>
            </a: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ON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VendTable.mserp_accountnum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VendTrans.mserp_accountnum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AND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VendTable.mserp_dataareaid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VendTrans.mserp_dataareaid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JOIN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DBO.mserp_dirpartytablebientity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DirPartyTable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          		--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주소록 마스터</a:t>
            </a: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ON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DirPartyTable.mserp_sourcekey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VendTable.mserp_party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WHERE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Company.mserp_name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&lt;&gt; N'DAT'  --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시스템 법인 제외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B0EAF6-D808-65D6-F426-B464B83973DD}"/>
              </a:ext>
            </a:extLst>
          </p:cNvPr>
          <p:cNvSpPr/>
          <p:nvPr/>
        </p:nvSpPr>
        <p:spPr>
          <a:xfrm>
            <a:off x="136408" y="4869160"/>
            <a:ext cx="9641127" cy="15121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33" indent="-171433">
              <a:buFontTx/>
              <a:buChar char="-"/>
            </a:pP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매입과 지급이 하나의 테이블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mserp_vendtransbientity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에 존재합니다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 </a:t>
            </a:r>
          </a:p>
          <a:p>
            <a:pPr marL="171433" indent="-171433">
              <a:buFontTx/>
              <a:buChar char="-"/>
            </a:pP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금액과 거래통화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거래통화기준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,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회사기본통화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금액이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음수이면 매입 발생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양수이면 지급 처리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일자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mserp_transdate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발생일로 매입 발생일 또는 지급 처리일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mserp_duedate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매입에 대한 지급예상일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정산완료일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..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정산완료일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(1900-01-01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보다 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이 존재하면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해당 건은 지급이 완료된 건임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endParaRPr lang="ko-KR" altLang="en-US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FE0AB1-380A-9486-04E2-960A3277C8D9}"/>
              </a:ext>
            </a:extLst>
          </p:cNvPr>
          <p:cNvSpPr/>
          <p:nvPr/>
        </p:nvSpPr>
        <p:spPr>
          <a:xfrm>
            <a:off x="128464" y="-345946"/>
            <a:ext cx="1573306" cy="89462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Query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D9B14B-0714-9143-8914-37BCDB172253}"/>
              </a:ext>
            </a:extLst>
          </p:cNvPr>
          <p:cNvSpPr/>
          <p:nvPr/>
        </p:nvSpPr>
        <p:spPr>
          <a:xfrm>
            <a:off x="136408" y="465313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Main Field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22FC9-5EDF-6C23-6DAD-1E5018D8DBF7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매입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지급</a:t>
            </a:r>
          </a:p>
        </p:txBody>
      </p:sp>
    </p:spTree>
    <p:extLst>
      <p:ext uri="{BB962C8B-B14F-4D97-AF65-F5344CB8AC3E}">
        <p14:creationId xmlns:p14="http://schemas.microsoft.com/office/powerpoint/2010/main" val="31338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9AE0-5E97-48DD-09AA-24F5D9C7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1D68E840-6327-7FF6-BB58-18A5813DB3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E51D0D-C8D2-5B95-F9E0-302549EF8A3C}"/>
              </a:ext>
            </a:extLst>
          </p:cNvPr>
          <p:cNvSpPr/>
          <p:nvPr/>
        </p:nvSpPr>
        <p:spPr>
          <a:xfrm>
            <a:off x="128464" y="548680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Prompt 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별 채무연령분석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(Vendor Aging Report)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과 금주 지급예상액을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법인코드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법인명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60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이상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지급액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&lt;0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매입지급잔액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이내인 매입지급잔액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31 ~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이내인 매입지급잔액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…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이상인 매입지급잔액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금주 지급액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금주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토요일이내인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매입지급잔액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F05B84-4327-BB0D-EF05-82E69D405BC8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7789E4-0730-B44D-5CA8-2A2F6B075E26}"/>
              </a:ext>
            </a:extLst>
          </p:cNvPr>
          <p:cNvSpPr/>
          <p:nvPr/>
        </p:nvSpPr>
        <p:spPr>
          <a:xfrm>
            <a:off x="128464" y="3642285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별 금주 지급예상액을 일별로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법인코드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법인명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10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11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12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… / 16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토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지급액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D29887-D2C4-943D-7155-8E9E98C467EA}"/>
              </a:ext>
            </a:extLst>
          </p:cNvPr>
          <p:cNvSpPr/>
          <p:nvPr/>
        </p:nvSpPr>
        <p:spPr>
          <a:xfrm>
            <a:off x="128464" y="3426261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#01-1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A76E31-E108-6488-5611-B8923E8A8D33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err="1">
                <a:solidFill>
                  <a:srgbClr val="FFFF00"/>
                </a:solidFill>
                <a:latin typeface="+mj-ea"/>
                <a:ea typeface="+mj-ea"/>
              </a:rPr>
              <a:t>법인별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채무연령분석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(Vendor Aging Report)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을 하여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, Cash Flow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에 반영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…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4CCBB7-962E-96A7-637C-4AC1EF622D38}"/>
              </a:ext>
            </a:extLst>
          </p:cNvPr>
          <p:cNvSpPr/>
          <p:nvPr/>
        </p:nvSpPr>
        <p:spPr>
          <a:xfrm>
            <a:off x="1701770" y="3426261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err="1">
                <a:solidFill>
                  <a:srgbClr val="FFFF00"/>
                </a:solidFill>
                <a:latin typeface="+mj-ea"/>
                <a:ea typeface="+mj-ea"/>
              </a:rPr>
              <a:t>법인별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금주 지급액 예상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.. (</a:t>
            </a:r>
            <a:r>
              <a:rPr lang="en-US" altLang="ko-KR" sz="1000" b="1">
                <a:solidFill>
                  <a:srgbClr val="FFFF00"/>
                </a:solidFill>
                <a:latin typeface="+mj-ea"/>
              </a:rPr>
              <a:t>Prompt#01</a:t>
            </a:r>
            <a:r>
              <a:rPr lang="ko-KR" altLang="en-US" sz="1000" b="1">
                <a:solidFill>
                  <a:srgbClr val="FFFF00"/>
                </a:solidFill>
                <a:latin typeface="+mj-ea"/>
              </a:rPr>
              <a:t>의 파생</a:t>
            </a:r>
            <a:r>
              <a:rPr lang="en-US" altLang="ko-KR" sz="1000" b="1">
                <a:solidFill>
                  <a:srgbClr val="FFFF00"/>
                </a:solidFill>
                <a:latin typeface="+mj-ea"/>
              </a:rPr>
              <a:t>)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0ADD9-B5DE-4665-EC08-A648D13D5108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매입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지급</a:t>
            </a:r>
          </a:p>
        </p:txBody>
      </p:sp>
    </p:spTree>
    <p:extLst>
      <p:ext uri="{BB962C8B-B14F-4D97-AF65-F5344CB8AC3E}">
        <p14:creationId xmlns:p14="http://schemas.microsoft.com/office/powerpoint/2010/main" val="18475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EBF0-E2D9-4C20-6837-30FD1FA91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D5AFF309-1CB4-E89F-C037-E90DC8C9E7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1E7D8A-E73C-14F8-1EF1-FD2B6DFB6F31}"/>
              </a:ext>
            </a:extLst>
          </p:cNvPr>
          <p:cNvSpPr/>
          <p:nvPr/>
        </p:nvSpPr>
        <p:spPr>
          <a:xfrm>
            <a:off x="128464" y="548680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Prompt : [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의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매입처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별 채무연령분석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(Vendor Aging Report)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과 금주 지급예상액을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거래처코드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거래처명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60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이상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지급액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&lt;0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매입지급잔액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이내인 매입지급잔액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31 ~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이내인 매입지급잔액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…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이상인 매입지급잔액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금주 지급액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금주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토요일이내인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매입지급잔액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DF30D0-A2FD-BEA5-3A10-E83D6E6AA207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2FDECE-AF4A-D2E2-A596-6E40B970AD77}"/>
              </a:ext>
            </a:extLst>
          </p:cNvPr>
          <p:cNvSpPr/>
          <p:nvPr/>
        </p:nvSpPr>
        <p:spPr>
          <a:xfrm>
            <a:off x="128464" y="3642285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: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[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의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지급예상액을 일별로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 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통화별 합계 표시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10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11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12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… / 16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토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지급액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트랜잭션 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VendTrans.mserp_currencycode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매입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&lt;0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매입지급잔액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–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4A892A-4C95-C975-97AF-0D806B44806C}"/>
              </a:ext>
            </a:extLst>
          </p:cNvPr>
          <p:cNvSpPr/>
          <p:nvPr/>
        </p:nvSpPr>
        <p:spPr>
          <a:xfrm>
            <a:off x="128464" y="3426261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EA2957-7C60-32EC-CF62-58E9E4DB3403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특정법인의 거래처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(</a:t>
            </a:r>
            <a:r>
              <a:rPr lang="ko-KR" altLang="en-US" sz="1000" b="1" err="1">
                <a:solidFill>
                  <a:srgbClr val="FFFF00"/>
                </a:solidFill>
                <a:latin typeface="+mj-ea"/>
                <a:ea typeface="+mj-ea"/>
              </a:rPr>
              <a:t>매입처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)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별 채무연령분석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(Vendor Aging Report)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524038-4CC5-222E-D9D0-73C6E8284EAB}"/>
              </a:ext>
            </a:extLst>
          </p:cNvPr>
          <p:cNvSpPr/>
          <p:nvPr/>
        </p:nvSpPr>
        <p:spPr>
          <a:xfrm>
            <a:off x="1701770" y="3426261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</a:rPr>
              <a:t>특정법인의 통화별 금주 지급액 예상</a:t>
            </a:r>
            <a:endParaRPr lang="en-US" altLang="ko-KR" sz="1000" b="1">
              <a:solidFill>
                <a:srgbClr val="FFFF00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CB5D4-59C7-5EB1-37B0-876AC4228983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매입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지급</a:t>
            </a:r>
          </a:p>
        </p:txBody>
      </p:sp>
    </p:spTree>
    <p:extLst>
      <p:ext uri="{BB962C8B-B14F-4D97-AF65-F5344CB8AC3E}">
        <p14:creationId xmlns:p14="http://schemas.microsoft.com/office/powerpoint/2010/main" val="395287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04009-0049-BCA6-437A-65ABCA6A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C63B8ABB-04F7-C97A-F89C-692BE92BBB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5B43F9-60DC-9216-0E9C-74CC52D36EF8}"/>
              </a:ext>
            </a:extLst>
          </p:cNvPr>
          <p:cNvSpPr/>
          <p:nvPr/>
        </p:nvSpPr>
        <p:spPr>
          <a:xfrm>
            <a:off x="128464" y="548680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: [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의 최근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6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개월간 매입과 지급 추이를 분석해줘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구분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지급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M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M-1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M-2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M-3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M-4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M-5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합계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 0 . 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기준일자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VendTrans.mserp_transdate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지급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&gt; 0 .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기준일자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VendTrans.mserp_transdate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475DF3-9635-3DE8-4A35-B909E23C43B6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D17571-A90F-EA6E-C0DF-CF939CDACEFF}"/>
              </a:ext>
            </a:extLst>
          </p:cNvPr>
          <p:cNvSpPr/>
          <p:nvPr/>
        </p:nvSpPr>
        <p:spPr>
          <a:xfrm>
            <a:off x="128464" y="3642285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[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의 거래처별 지급보류 내역과 최근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6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개월간 평균지급일을 작성해줘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</a:rPr>
              <a:t>거래처코드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거래처명 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미지급액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평균지급일수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미지급액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지급보류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를 지난 매입지급잔액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[(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-1 ]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의 합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평균지급일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6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개월간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.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대상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매입 트랜잭션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 0)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중에서 지급완료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존재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.. (1900-01-01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보다 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된 트랜잭션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  .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지급일수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VendTrans.mserp_transdate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+ 1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35CB57-7EE5-FAD0-9A0F-2D0F1FE411DA}"/>
              </a:ext>
            </a:extLst>
          </p:cNvPr>
          <p:cNvSpPr/>
          <p:nvPr/>
        </p:nvSpPr>
        <p:spPr>
          <a:xfrm>
            <a:off x="128464" y="3426261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8ABA1A-8EA6-A103-1447-55AB0AC72603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특정법인의 매입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/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지급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추이 분석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D14C42-2E1F-D354-47C8-F7B6B5B41B4D}"/>
              </a:ext>
            </a:extLst>
          </p:cNvPr>
          <p:cNvSpPr/>
          <p:nvPr/>
        </p:nvSpPr>
        <p:spPr>
          <a:xfrm>
            <a:off x="1701770" y="3426261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</a:rPr>
              <a:t>특정법인의 통화별 금주 지급액 예상</a:t>
            </a:r>
            <a:endParaRPr lang="en-US" altLang="ko-KR" sz="1000" b="1">
              <a:solidFill>
                <a:srgbClr val="FFFF00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0235C-27E7-AEDD-BD1B-142C9C14C964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매입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지급</a:t>
            </a:r>
          </a:p>
        </p:txBody>
      </p:sp>
    </p:spTree>
    <p:extLst>
      <p:ext uri="{BB962C8B-B14F-4D97-AF65-F5344CB8AC3E}">
        <p14:creationId xmlns:p14="http://schemas.microsoft.com/office/powerpoint/2010/main" val="177783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A3F8-0EBB-8DD5-C7CC-FE8960B4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7CEDC4B3-09B7-4E73-DB05-722CE6545A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4102D4-CBB9-2211-07C3-E6C0C4A02CBB}"/>
              </a:ext>
            </a:extLst>
          </p:cNvPr>
          <p:cNvSpPr/>
          <p:nvPr/>
        </p:nvSpPr>
        <p:spPr>
          <a:xfrm>
            <a:off x="128464" y="548680"/>
            <a:ext cx="9649072" cy="38884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SELECT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Company.mserp_name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Company_Code,Company.mserp_description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Company_Name,Company.mserp_accountingcurrency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CustTrans.mserp_accountnum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CustomerCode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CustTrans.mserp_currencycode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TransCurrency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AmountOnTransCurrency,CustTrans.mserp_amountmst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AmountOnCompanyCurrency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 --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Negative:Payment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Positive:Account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Receivable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-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CustTrans.mserp_settleamountcur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OpenPaymentAMTOnTransCurrency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CustTrans.mserp_amountmst-CustTrans.mserp_settleamountmst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OpenPaymentAMTOnCompanyCurrency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CustTrans.mserp_transdate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PostingDate,CustTrans.mserp_duedate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DueDate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SettleDate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DirPartyTable.mserp_name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CusterName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DBO.mserp_ledgerbientity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Company                           --Company Master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JOIN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DBO.mserp_custtransbientity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                  --Account Receivable/payment transaction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ON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CustTrans.mserp_dataareaid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Company.mserp_name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JOIN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DBO.mserp_custtablebientity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CustTable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                  --Customer Master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ON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CustTable.mserp_accountnum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CustTrans.mserp_accountnum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JOIN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DBO.mserp_dirpartytablebientity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DirPartyTable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          --Address book Master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ON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DirPartyTable.mserp_sourcekey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CustTable.mserp_party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WHERE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Company.mserp_name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&lt;&gt; N'DAT'  --Exclude system company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258A38-5A88-CB34-67CA-8D17B41E485E}"/>
              </a:ext>
            </a:extLst>
          </p:cNvPr>
          <p:cNvSpPr/>
          <p:nvPr/>
        </p:nvSpPr>
        <p:spPr>
          <a:xfrm>
            <a:off x="136408" y="4869160"/>
            <a:ext cx="9641127" cy="15121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33" indent="-171433">
              <a:buFontTx/>
              <a:buChar char="-"/>
            </a:pP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매출과 수금이 하나의 테이블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mserp_custtransbientity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에 존재합니다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 </a:t>
            </a:r>
          </a:p>
          <a:p>
            <a:pPr marL="171433" indent="-171433">
              <a:buFontTx/>
              <a:buChar char="-"/>
            </a:pP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금액과 거래통화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거래통화기준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,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회사기본통화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금액이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음수이면 수금 발생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양수이면 매출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일자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mserp_transdate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발생일로 매출 발생일 또는 수금 처리일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mserp_duedate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매출에 대한 수금예상일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.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정산완료일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..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정산완료일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(1900-01-01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보다 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이 존재하면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해당 건은 수금이 완료된 건임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endParaRPr lang="ko-KR" altLang="en-US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0EA276-F716-0931-F4A5-DF9D2147ED73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Query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063BD-679C-DA03-0BCF-47E5888EEE0D}"/>
              </a:ext>
            </a:extLst>
          </p:cNvPr>
          <p:cNvSpPr/>
          <p:nvPr/>
        </p:nvSpPr>
        <p:spPr>
          <a:xfrm>
            <a:off x="136408" y="465313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Main Field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04524-A3B9-B7F3-B89C-5C2CABFF7F7E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매출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수금</a:t>
            </a:r>
          </a:p>
        </p:txBody>
      </p:sp>
    </p:spTree>
    <p:extLst>
      <p:ext uri="{BB962C8B-B14F-4D97-AF65-F5344CB8AC3E}">
        <p14:creationId xmlns:p14="http://schemas.microsoft.com/office/powerpoint/2010/main" val="225697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6464-068C-0A1E-08B3-44BA5021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EF058380-8EB4-F365-6283-33C7DAFA12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4F90AD-1415-2052-F620-14157FEEADBC}"/>
              </a:ext>
            </a:extLst>
          </p:cNvPr>
          <p:cNvSpPr/>
          <p:nvPr/>
        </p:nvSpPr>
        <p:spPr>
          <a:xfrm>
            <a:off x="128464" y="548680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Prompt 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별 채권연령분석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(Vendor Aging Report)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과 금주 수금예상액을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법인코드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법인명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60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이상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수금액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&lt;0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이내인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31 ~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이내인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…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이상인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금주 수금액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금주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토요일이내인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FB5D48-7977-D349-CEBA-3200F20A92D7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EA2348-3EDC-EF43-088B-B2B74A2D3FC4}"/>
              </a:ext>
            </a:extLst>
          </p:cNvPr>
          <p:cNvSpPr/>
          <p:nvPr/>
        </p:nvSpPr>
        <p:spPr>
          <a:xfrm>
            <a:off x="128464" y="3642285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별 금주 수금예상액을 일별로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법인코드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법인명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10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11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12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… / 16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토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수금액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99D414-A5FD-9A93-B4C7-BDFEEF4620B6}"/>
              </a:ext>
            </a:extLst>
          </p:cNvPr>
          <p:cNvSpPr/>
          <p:nvPr/>
        </p:nvSpPr>
        <p:spPr>
          <a:xfrm>
            <a:off x="128464" y="3426261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#01-1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333A48-2707-4EB3-24A2-2F1984227E64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err="1">
                <a:solidFill>
                  <a:srgbClr val="FFFF00"/>
                </a:solidFill>
                <a:latin typeface="+mj-ea"/>
                <a:ea typeface="+mj-ea"/>
              </a:rPr>
              <a:t>법인별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채권연령분석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(Customer Aging Report)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을 하여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, Cash Flow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에 반영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…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D41497-3F36-7051-7CEE-98316005E122}"/>
              </a:ext>
            </a:extLst>
          </p:cNvPr>
          <p:cNvSpPr/>
          <p:nvPr/>
        </p:nvSpPr>
        <p:spPr>
          <a:xfrm>
            <a:off x="1701770" y="3426261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err="1">
                <a:solidFill>
                  <a:srgbClr val="FFFF00"/>
                </a:solidFill>
                <a:latin typeface="+mj-ea"/>
                <a:ea typeface="+mj-ea"/>
              </a:rPr>
              <a:t>법인별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금주 수금액 예상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.. (</a:t>
            </a:r>
            <a:r>
              <a:rPr lang="en-US" altLang="ko-KR" sz="1000" b="1">
                <a:solidFill>
                  <a:srgbClr val="FFFF00"/>
                </a:solidFill>
                <a:latin typeface="+mj-ea"/>
              </a:rPr>
              <a:t>Prompt#01</a:t>
            </a:r>
            <a:r>
              <a:rPr lang="ko-KR" altLang="en-US" sz="1000" b="1">
                <a:solidFill>
                  <a:srgbClr val="FFFF00"/>
                </a:solidFill>
                <a:latin typeface="+mj-ea"/>
              </a:rPr>
              <a:t>의 파생</a:t>
            </a:r>
            <a:r>
              <a:rPr lang="en-US" altLang="ko-KR" sz="1000" b="1">
                <a:solidFill>
                  <a:srgbClr val="FFFF00"/>
                </a:solidFill>
                <a:latin typeface="+mj-ea"/>
              </a:rPr>
              <a:t>)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F0F91-C780-87B8-FAA1-2EEAC54614CF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매출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수금</a:t>
            </a:r>
          </a:p>
        </p:txBody>
      </p:sp>
    </p:spTree>
    <p:extLst>
      <p:ext uri="{BB962C8B-B14F-4D97-AF65-F5344CB8AC3E}">
        <p14:creationId xmlns:p14="http://schemas.microsoft.com/office/powerpoint/2010/main" val="110463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C60E-49E0-8358-9F42-1327D7FF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D0DC6E92-DE6D-B20C-9024-A8B14B689F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FA6FCB-E86C-36BC-0C20-8472B7702FF6}"/>
              </a:ext>
            </a:extLst>
          </p:cNvPr>
          <p:cNvSpPr/>
          <p:nvPr/>
        </p:nvSpPr>
        <p:spPr>
          <a:xfrm>
            <a:off x="128464" y="548680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Prompt : [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의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매입처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별 채무연령분석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(Customer Aging Report)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과 금주 수금예상액을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거래처코드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거래처명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60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90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이상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수금액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수금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&lt;0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매출수금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잔액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30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 이내인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31 ~ 60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이내인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…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90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일 이상인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금주 지급액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가 금주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토요일이내인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52A204-F3A1-A6CD-5917-A8E91D295AD7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FE22D2-F62D-1ED3-A5B8-F63A73B83B56}"/>
              </a:ext>
            </a:extLst>
          </p:cNvPr>
          <p:cNvSpPr/>
          <p:nvPr/>
        </p:nvSpPr>
        <p:spPr>
          <a:xfrm>
            <a:off x="128464" y="3642285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: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[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의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수금예상액을 일별로 작성해줘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 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통화별 합계 표시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10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11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12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… / 16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토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금주 수금액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트랜잭션 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CustTrans.mserp_currencycode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매출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&lt;0</a:t>
            </a:r>
          </a:p>
          <a:p>
            <a:pPr marL="171450" indent="-171450">
              <a:buFontTx/>
              <a:buChar char="-"/>
            </a:pP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–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mserp_settleamountcur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76A48E-34C9-24B3-9D5B-E2069B5601D5}"/>
              </a:ext>
            </a:extLst>
          </p:cNvPr>
          <p:cNvSpPr/>
          <p:nvPr/>
        </p:nvSpPr>
        <p:spPr>
          <a:xfrm>
            <a:off x="128464" y="3426261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F1F9AC-C5CD-B39E-D57F-7971EED6CC7D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특정법인의 거래처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(</a:t>
            </a:r>
            <a:r>
              <a:rPr lang="ko-KR" altLang="en-US" sz="1000" b="1" err="1">
                <a:solidFill>
                  <a:srgbClr val="FFFF00"/>
                </a:solidFill>
                <a:latin typeface="+mj-ea"/>
                <a:ea typeface="+mj-ea"/>
              </a:rPr>
              <a:t>매입처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)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별 채권연령분석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(Customer Aging Report)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9BBD8C-821A-55BA-0729-20CD86AC9133}"/>
              </a:ext>
            </a:extLst>
          </p:cNvPr>
          <p:cNvSpPr/>
          <p:nvPr/>
        </p:nvSpPr>
        <p:spPr>
          <a:xfrm>
            <a:off x="1701770" y="3426261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</a:rPr>
              <a:t>특정법인의 통화별 금주 수금액 예상</a:t>
            </a:r>
            <a:endParaRPr lang="en-US" altLang="ko-KR" sz="1000" b="1">
              <a:solidFill>
                <a:srgbClr val="FFFF00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A2533-A432-EFB0-FBD7-7A64BA48A846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매출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수금</a:t>
            </a:r>
          </a:p>
        </p:txBody>
      </p:sp>
    </p:spTree>
    <p:extLst>
      <p:ext uri="{BB962C8B-B14F-4D97-AF65-F5344CB8AC3E}">
        <p14:creationId xmlns:p14="http://schemas.microsoft.com/office/powerpoint/2010/main" val="363835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44B7-8BEE-B3BA-1434-FD2130BA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B77BE175-29F5-727D-BDF3-24021A53F3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B48838-AB33-44D9-D634-105E1DA094D0}"/>
              </a:ext>
            </a:extLst>
          </p:cNvPr>
          <p:cNvSpPr/>
          <p:nvPr/>
        </p:nvSpPr>
        <p:spPr>
          <a:xfrm>
            <a:off x="128464" y="548680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: [</a:t>
            </a:r>
            <a:r>
              <a:rPr lang="en-US" altLang="ko-KR" sz="1000" err="1">
                <a:solidFill>
                  <a:schemeClr val="tx1"/>
                </a:solidFill>
                <a:latin typeface="+mj-ea"/>
                <a:ea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의 최근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6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개월간 매출과 수금 추이를 분석해줘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구분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매입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지급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 / M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M-1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월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M-2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M-3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M-4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M-5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합계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 0 . 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기준일자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VendTrans.mserp_transdate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매출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&gt; 0 .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기준일자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VendTrans.mserp_transdate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F59824-9238-14D0-15A3-F086294BD8EA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B5F983-9FB1-3128-DDF5-BDF7811D7D61}"/>
              </a:ext>
            </a:extLst>
          </p:cNvPr>
          <p:cNvSpPr/>
          <p:nvPr/>
        </p:nvSpPr>
        <p:spPr>
          <a:xfrm>
            <a:off x="128464" y="3642285"/>
            <a:ext cx="9649072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Pompt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: [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xxxx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]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법인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회사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의 거래처별 지급보류 내역과 최근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6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개월간 평균지급일을 작성해줘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</a:rPr>
              <a:t>거래처코드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거래처명 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미지급액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평균지급일수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-------------------------------------------------------------------------------------</a:t>
            </a: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통화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법인의 기본통화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Company.mserp_accountingcurrency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미수금액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수금보류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금일 기준으로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DueDate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를 지난 </a:t>
            </a:r>
            <a:r>
              <a:rPr lang="ko-KR" altLang="en-US" sz="1000" err="1">
                <a:solidFill>
                  <a:schemeClr val="tx1"/>
                </a:solidFill>
                <a:latin typeface="+mj-ea"/>
              </a:rPr>
              <a:t>매출수금잔액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[(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mserp_settleamountmst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) * -1 ]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의 합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평균지급일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6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개월간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  .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대상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: 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매출 트랜잭션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mserp_amountmst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&lt; 0)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중에서 지급완료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존재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.. (1900-01-01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보다 큼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))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된 트랜잭션</a:t>
            </a:r>
            <a:endParaRPr lang="en-US" altLang="ko-KR" sz="1000">
              <a:solidFill>
                <a:schemeClr val="tx1"/>
              </a:solidFill>
              <a:latin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</a:rPr>
              <a:t>  . </a:t>
            </a:r>
            <a:r>
              <a:rPr lang="ko-KR" altLang="en-US" sz="1000">
                <a:solidFill>
                  <a:schemeClr val="tx1"/>
                </a:solidFill>
                <a:latin typeface="+mj-ea"/>
              </a:rPr>
              <a:t>수금일수 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: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CustTrans.mserp_closed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- </a:t>
            </a:r>
            <a:r>
              <a:rPr lang="en-US" altLang="ko-KR" sz="1000" err="1">
                <a:solidFill>
                  <a:schemeClr val="tx1"/>
                </a:solidFill>
                <a:latin typeface="+mj-ea"/>
              </a:rPr>
              <a:t>CustTrans.mserp_transdate</a:t>
            </a:r>
            <a:r>
              <a:rPr lang="en-US" altLang="ko-KR" sz="1000">
                <a:solidFill>
                  <a:schemeClr val="tx1"/>
                </a:solidFill>
                <a:latin typeface="+mj-ea"/>
              </a:rPr>
              <a:t> + 1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47F002-3055-8FB5-F243-C0E608BA1F0D}"/>
              </a:ext>
            </a:extLst>
          </p:cNvPr>
          <p:cNvSpPr/>
          <p:nvPr/>
        </p:nvSpPr>
        <p:spPr>
          <a:xfrm>
            <a:off x="128464" y="3426261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Prompt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#04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9C4F84-90D0-CF39-E55D-73149E08FA94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특정법인의 매출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/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수금</a:t>
            </a:r>
            <a:r>
              <a:rPr lang="en-US" altLang="ko-KR" sz="1000" b="1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추이 분석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744CDC-0FDE-2DC7-51C6-C145C3F034BE}"/>
              </a:ext>
            </a:extLst>
          </p:cNvPr>
          <p:cNvSpPr/>
          <p:nvPr/>
        </p:nvSpPr>
        <p:spPr>
          <a:xfrm>
            <a:off x="1701770" y="3426261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rgbClr val="FFFF00"/>
                </a:solidFill>
                <a:latin typeface="+mj-ea"/>
              </a:rPr>
              <a:t>특정법인의 통화별 금주 지급액 예상</a:t>
            </a:r>
            <a:endParaRPr lang="en-US" altLang="ko-KR" sz="1000" b="1">
              <a:solidFill>
                <a:srgbClr val="FFFF00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480F3-3A52-ABE8-3339-BF2A451B42EB}"/>
              </a:ext>
            </a:extLst>
          </p:cNvPr>
          <p:cNvSpPr txBox="1"/>
          <p:nvPr/>
        </p:nvSpPr>
        <p:spPr>
          <a:xfrm>
            <a:off x="56456" y="-1635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매출</a:t>
            </a:r>
            <a:r>
              <a:rPr lang="en-US" altLang="ko-KR" sz="1200">
                <a:solidFill>
                  <a:srgbClr val="FFFF00"/>
                </a:solidFill>
              </a:rPr>
              <a:t>/</a:t>
            </a:r>
            <a:r>
              <a:rPr lang="ko-KR" altLang="en-US" sz="1200">
                <a:solidFill>
                  <a:srgbClr val="FFFF00"/>
                </a:solidFill>
              </a:rPr>
              <a:t>수금</a:t>
            </a:r>
          </a:p>
        </p:txBody>
      </p:sp>
    </p:spTree>
    <p:extLst>
      <p:ext uri="{BB962C8B-B14F-4D97-AF65-F5344CB8AC3E}">
        <p14:creationId xmlns:p14="http://schemas.microsoft.com/office/powerpoint/2010/main" val="264576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B280-93D2-7B93-7629-4E6AC87B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">
            <a:extLst>
              <a:ext uri="{FF2B5EF4-FFF2-40B4-BE49-F238E27FC236}">
                <a16:creationId xmlns:a16="http://schemas.microsoft.com/office/drawing/2014/main" id="{0A845CBB-B6D0-AEAD-7979-02C8D6794C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23988"/>
            <a:ext cx="6824663" cy="2889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3325" tIns="31662" rIns="63325" bIns="3166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bg1"/>
                </a:solidFill>
                <a:effectLst/>
                <a:latin typeface="나눔스퀘어 Bold" pitchFamily="50" charset="-127"/>
                <a:ea typeface="나눔스퀘어 Bold" pitchFamily="50" charset="-127"/>
                <a:cs typeface="+mj-cs"/>
              </a:defRPr>
            </a:lvl1pPr>
          </a:lstStyle>
          <a:p>
            <a:pPr defTabSz="316597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100" cap="none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Co-Pilot Prompt</a:t>
            </a:r>
            <a:endParaRPr lang="ko-KR" altLang="en-US" sz="1100" cap="none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CCD6197-F7DE-4BE4-5EA6-1276AD8CB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19309"/>
              </p:ext>
            </p:extLst>
          </p:nvPr>
        </p:nvGraphicFramePr>
        <p:xfrm>
          <a:off x="161838" y="2420888"/>
          <a:ext cx="4353679" cy="3493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8325">
                  <a:extLst>
                    <a:ext uri="{9D8B030D-6E8A-4147-A177-3AD203B41FA5}">
                      <a16:colId xmlns:a16="http://schemas.microsoft.com/office/drawing/2014/main" val="862609944"/>
                    </a:ext>
                  </a:extLst>
                </a:gridCol>
                <a:gridCol w="968345">
                  <a:extLst>
                    <a:ext uri="{9D8B030D-6E8A-4147-A177-3AD203B41FA5}">
                      <a16:colId xmlns:a16="http://schemas.microsoft.com/office/drawing/2014/main" val="124127498"/>
                    </a:ext>
                  </a:extLst>
                </a:gridCol>
                <a:gridCol w="511286">
                  <a:extLst>
                    <a:ext uri="{9D8B030D-6E8A-4147-A177-3AD203B41FA5}">
                      <a16:colId xmlns:a16="http://schemas.microsoft.com/office/drawing/2014/main" val="2353985148"/>
                    </a:ext>
                  </a:extLst>
                </a:gridCol>
                <a:gridCol w="1340190">
                  <a:extLst>
                    <a:ext uri="{9D8B030D-6E8A-4147-A177-3AD203B41FA5}">
                      <a16:colId xmlns:a16="http://schemas.microsoft.com/office/drawing/2014/main" val="2083325924"/>
                    </a:ext>
                  </a:extLst>
                </a:gridCol>
                <a:gridCol w="418325">
                  <a:extLst>
                    <a:ext uri="{9D8B030D-6E8A-4147-A177-3AD203B41FA5}">
                      <a16:colId xmlns:a16="http://schemas.microsoft.com/office/drawing/2014/main" val="2174386757"/>
                    </a:ext>
                  </a:extLst>
                </a:gridCol>
                <a:gridCol w="418325">
                  <a:extLst>
                    <a:ext uri="{9D8B030D-6E8A-4147-A177-3AD203B41FA5}">
                      <a16:colId xmlns:a16="http://schemas.microsoft.com/office/drawing/2014/main" val="1383080820"/>
                    </a:ext>
                  </a:extLst>
                </a:gridCol>
                <a:gridCol w="278883">
                  <a:extLst>
                    <a:ext uri="{9D8B030D-6E8A-4147-A177-3AD203B41FA5}">
                      <a16:colId xmlns:a16="http://schemas.microsoft.com/office/drawing/2014/main" val="363381716"/>
                    </a:ext>
                  </a:extLst>
                </a:gridCol>
              </a:tblGrid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법인코드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법인명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매입처코드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매입처명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최초 거래일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최종거래일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건수 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583976652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 err="1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Fabrikam Brasil Ltda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2015/11/12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2016/03/07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299700755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Proseware Brasil Ltda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2016/03/07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81474189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Adventure Works Cycles Brasil Ltda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2015/11/27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2016/08/30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040700600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Wide World Importers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2015/11/12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952916386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Graphic Design Brasil Ltda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2015/11/12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2016/01/21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10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619310354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SEFAZ - Sao Paulo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2016/08/29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933388143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Brazil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BRMF-000008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 err="1">
                          <a:effectLst/>
                        </a:rPr>
                        <a:t>Receita</a:t>
                      </a:r>
                      <a:r>
                        <a:rPr lang="en-US" sz="500" u="none" strike="noStrike">
                          <a:effectLst/>
                        </a:rPr>
                        <a:t> Federal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2016/01/01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2016/01/31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760742339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China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CNMF-000001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信息有限公司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2015/01/28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5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090254168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China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CNMF-000002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500" u="none" strike="noStrike">
                          <a:effectLst/>
                        </a:rPr>
                        <a:t>商业投资有限公司</a:t>
                      </a:r>
                      <a:endParaRPr lang="zh-CN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778860435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China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CNMF-000014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500" u="none" strike="noStrike">
                          <a:effectLst/>
                        </a:rPr>
                        <a:t>国际贸易进出口有限公司</a:t>
                      </a:r>
                      <a:endParaRPr lang="zh-CN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5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223988376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China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CNMF-000015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基德有限公司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2015/05/15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2015/06/02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4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4171963668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China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CNMF-000020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曼德拉比德有限公司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1256879282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Germany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CH-001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Asia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2023/11/14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42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4236799117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Germany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Opal Audio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2023/12/14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44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602870843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Germany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DE-01001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Property Management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2015/01/04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2023/12/29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</a:t>
                      </a:r>
                      <a:r>
                        <a:rPr lang="en-US" altLang="ko-KR" sz="500" u="none" strike="noStrike">
                          <a:effectLst/>
                        </a:rPr>
                        <a:t>141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261898761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Germany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DE-01002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City-wide Advertising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2015/01/01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2023/11/29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</a:t>
                      </a:r>
                      <a:r>
                        <a:rPr lang="en-US" altLang="ko-KR" sz="500" u="none" strike="noStrike">
                          <a:effectLst/>
                        </a:rPr>
                        <a:t>147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790515865"/>
                  </a:ext>
                </a:extLst>
              </a:tr>
              <a:tr h="151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demf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Germany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2017/07/04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14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4944428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A. Datum Corporation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10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1894908450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Fabrikam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1720670474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Litware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1684114685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Northwind Traders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19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2637938835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Proseware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70398988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Southridge Video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1803135879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The Phone Company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10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531300779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frrt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Retail FR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Wide World Importers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16859276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gbsi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Consulting GB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GB_SI_000001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Consumer Equipment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2017/02/13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496835639"/>
                  </a:ext>
                </a:extLst>
              </a:tr>
              <a:tr h="10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gbsi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Consulting GB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GB_SI_000002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Instruments and Parts Company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2017/03/25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5" marR="2905" marT="2905" marB="0" anchor="ctr"/>
                </a:tc>
                <a:extLst>
                  <a:ext uri="{0D108BD9-81ED-4DB2-BD59-A6C34878D82A}">
                    <a16:rowId xmlns:a16="http://schemas.microsoft.com/office/drawing/2014/main" val="344209033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23BE149-4588-DE7E-37F5-92DC1C7C6208}"/>
              </a:ext>
            </a:extLst>
          </p:cNvPr>
          <p:cNvSpPr/>
          <p:nvPr/>
        </p:nvSpPr>
        <p:spPr>
          <a:xfrm>
            <a:off x="128464" y="548680"/>
            <a:ext cx="9649072" cy="15841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하기 표에 법인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거래처별 데이터 현황을 첨부합니다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Prompt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에 금주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최근 등의 당일 기준의 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Word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가 많은데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ERP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데이터는 모두 과거여서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이 부분은 고민을 해야 할 것 같습니다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기준일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당일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을 특정일로 </a:t>
            </a:r>
            <a:r>
              <a:rPr lang="ko-KR" altLang="en-US" sz="1000" err="1">
                <a:solidFill>
                  <a:schemeClr val="tx1"/>
                </a:solidFill>
                <a:latin typeface="+mj-ea"/>
                <a:ea typeface="+mj-ea"/>
              </a:rPr>
              <a:t>지정하는게</a:t>
            </a:r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 가능할지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????? </a:t>
            </a:r>
          </a:p>
          <a:p>
            <a:endParaRPr lang="en-US" altLang="ko-KR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201DE4-C5F6-6EAD-2DCC-8C67929F2B97}"/>
              </a:ext>
            </a:extLst>
          </p:cNvPr>
          <p:cNvSpPr/>
          <p:nvPr/>
        </p:nvSpPr>
        <p:spPr>
          <a:xfrm>
            <a:off x="128464" y="332656"/>
            <a:ext cx="1573306" cy="2160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rgbClr val="FFFF00"/>
                </a:solidFill>
                <a:latin typeface="+mj-ea"/>
                <a:ea typeface="+mj-ea"/>
              </a:rPr>
              <a:t>데이터 현황</a:t>
            </a:r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3D79EA-A5DD-B67F-882E-4B028D22E668}"/>
              </a:ext>
            </a:extLst>
          </p:cNvPr>
          <p:cNvSpPr/>
          <p:nvPr/>
        </p:nvSpPr>
        <p:spPr>
          <a:xfrm>
            <a:off x="1708294" y="332656"/>
            <a:ext cx="8069242" cy="216024"/>
          </a:xfrm>
          <a:prstGeom prst="rect">
            <a:avLst/>
          </a:prstGeom>
          <a:solidFill>
            <a:srgbClr val="E46C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b="1">
              <a:solidFill>
                <a:srgbClr val="FFFF00"/>
              </a:solidFill>
              <a:latin typeface="+mj-ea"/>
              <a:ea typeface="+mj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D5E5310-5783-D1CB-DFEA-6FA58FBEF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052328"/>
              </p:ext>
            </p:extLst>
          </p:nvPr>
        </p:nvGraphicFramePr>
        <p:xfrm>
          <a:off x="1136576" y="2780928"/>
          <a:ext cx="4118744" cy="3660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751">
                  <a:extLst>
                    <a:ext uri="{9D8B030D-6E8A-4147-A177-3AD203B41FA5}">
                      <a16:colId xmlns:a16="http://schemas.microsoft.com/office/drawing/2014/main" val="147075405"/>
                    </a:ext>
                  </a:extLst>
                </a:gridCol>
                <a:gridCol w="916091">
                  <a:extLst>
                    <a:ext uri="{9D8B030D-6E8A-4147-A177-3AD203B41FA5}">
                      <a16:colId xmlns:a16="http://schemas.microsoft.com/office/drawing/2014/main" val="778772309"/>
                    </a:ext>
                  </a:extLst>
                </a:gridCol>
                <a:gridCol w="483696">
                  <a:extLst>
                    <a:ext uri="{9D8B030D-6E8A-4147-A177-3AD203B41FA5}">
                      <a16:colId xmlns:a16="http://schemas.microsoft.com/office/drawing/2014/main" val="1543640809"/>
                    </a:ext>
                  </a:extLst>
                </a:gridCol>
                <a:gridCol w="1267870">
                  <a:extLst>
                    <a:ext uri="{9D8B030D-6E8A-4147-A177-3AD203B41FA5}">
                      <a16:colId xmlns:a16="http://schemas.microsoft.com/office/drawing/2014/main" val="2337730107"/>
                    </a:ext>
                  </a:extLst>
                </a:gridCol>
                <a:gridCol w="395751">
                  <a:extLst>
                    <a:ext uri="{9D8B030D-6E8A-4147-A177-3AD203B41FA5}">
                      <a16:colId xmlns:a16="http://schemas.microsoft.com/office/drawing/2014/main" val="1712599599"/>
                    </a:ext>
                  </a:extLst>
                </a:gridCol>
                <a:gridCol w="395751">
                  <a:extLst>
                    <a:ext uri="{9D8B030D-6E8A-4147-A177-3AD203B41FA5}">
                      <a16:colId xmlns:a16="http://schemas.microsoft.com/office/drawing/2014/main" val="3254287461"/>
                    </a:ext>
                  </a:extLst>
                </a:gridCol>
                <a:gridCol w="263834">
                  <a:extLst>
                    <a:ext uri="{9D8B030D-6E8A-4147-A177-3AD203B41FA5}">
                      <a16:colId xmlns:a16="http://schemas.microsoft.com/office/drawing/2014/main" val="1037436895"/>
                    </a:ext>
                  </a:extLst>
                </a:gridCol>
              </a:tblGrid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법인코드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법인명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매입처코드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매입처명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최초 거래일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최종거래일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건수 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4099055556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Alpine ski House India Ltd.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2015/05/01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65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3171700806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Blue Younder India Airlines Ltd.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2015/04/01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2017/12/16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17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513929874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Litware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2015/07/01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19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4283559889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Coho Vineyard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2016/04/12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2016/04/17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333996803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Northwind Traders India Ltd.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2016/04/12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2017/12/10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9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237642522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VAT Authority (Kar)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2015/04/30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35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3744617845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Excise Authority (Kar)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2015/04/01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2017/04/01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4109887485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INMF-000009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Service Tax Authority (kar)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2016/01/31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67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489881199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Sales Tax Authority (Kar)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2015/04/30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74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3309868548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TDS Authority (kar)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2015/05/31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32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42968858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India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INMF-000012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TCS Authority (KAR)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2016/04/30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31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852756088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itco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Italy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Domestic vendor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Domestic vendor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4207332112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itco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Italy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ITCO-000001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Italian Tax Authority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657651340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itco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Italy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ITCO-000002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SEPACreditTransferVendor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099753744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JPMF-000001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クラウドワークステーション株式会社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2012/03/31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30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3297111025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JPMF-000002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大金鋼鉄株式会社 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2012/03/31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2015/10/06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10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3848738968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JPMF-000003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久松コンサルティング会社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2012/03/31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2015/09/24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4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810234844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JPMF-000004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ヤハー株式会社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2012/03/31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2013/02/21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035866668"/>
                  </a:ext>
                </a:extLst>
              </a:tr>
              <a:tr h="96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JPMF-000005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森元オートバイ会社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2012/03/31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2012/03/31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781741509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Mexico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MXMP-000002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Litware, Inc.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2017/01/14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2017/02/11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126158144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Mexico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MXMP-000005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First Up Consultants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2017/03/25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7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4290959030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Mexico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MXMP-000006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Fourth Coffee Rentals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787121451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Mexico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MXMP-000007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Wide World Importers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449579041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mymf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Malaysia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MY-101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Fabrikam Ltd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2019/05/22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2019/06/23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2487595526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mymf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Malaysia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MY-102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Tailspin Parts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2019/05/05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2019/06/20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3536505556"/>
                  </a:ext>
                </a:extLst>
              </a:tr>
              <a:tr h="143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mymf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Malaysia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MY-103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Rain Projector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2019/05/07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2019/05/28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49" marR="2749" marT="2749" marB="0" anchor="ctr"/>
                </a:tc>
                <a:extLst>
                  <a:ext uri="{0D108BD9-81ED-4DB2-BD59-A6C34878D82A}">
                    <a16:rowId xmlns:a16="http://schemas.microsoft.com/office/drawing/2014/main" val="1140656403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8A66A4D-B13F-05B0-A67D-77C78ACCB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622206"/>
              </p:ext>
            </p:extLst>
          </p:nvPr>
        </p:nvGraphicFramePr>
        <p:xfrm>
          <a:off x="2421706" y="2915890"/>
          <a:ext cx="4933066" cy="3593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996">
                  <a:extLst>
                    <a:ext uri="{9D8B030D-6E8A-4147-A177-3AD203B41FA5}">
                      <a16:colId xmlns:a16="http://schemas.microsoft.com/office/drawing/2014/main" val="3032899203"/>
                    </a:ext>
                  </a:extLst>
                </a:gridCol>
                <a:gridCol w="1097212">
                  <a:extLst>
                    <a:ext uri="{9D8B030D-6E8A-4147-A177-3AD203B41FA5}">
                      <a16:colId xmlns:a16="http://schemas.microsoft.com/office/drawing/2014/main" val="3677313786"/>
                    </a:ext>
                  </a:extLst>
                </a:gridCol>
                <a:gridCol w="579328">
                  <a:extLst>
                    <a:ext uri="{9D8B030D-6E8A-4147-A177-3AD203B41FA5}">
                      <a16:colId xmlns:a16="http://schemas.microsoft.com/office/drawing/2014/main" val="1885862497"/>
                    </a:ext>
                  </a:extLst>
                </a:gridCol>
                <a:gridCol w="1518541">
                  <a:extLst>
                    <a:ext uri="{9D8B030D-6E8A-4147-A177-3AD203B41FA5}">
                      <a16:colId xmlns:a16="http://schemas.microsoft.com/office/drawing/2014/main" val="1352585520"/>
                    </a:ext>
                  </a:extLst>
                </a:gridCol>
                <a:gridCol w="473996">
                  <a:extLst>
                    <a:ext uri="{9D8B030D-6E8A-4147-A177-3AD203B41FA5}">
                      <a16:colId xmlns:a16="http://schemas.microsoft.com/office/drawing/2014/main" val="2484004786"/>
                    </a:ext>
                  </a:extLst>
                </a:gridCol>
                <a:gridCol w="473996">
                  <a:extLst>
                    <a:ext uri="{9D8B030D-6E8A-4147-A177-3AD203B41FA5}">
                      <a16:colId xmlns:a16="http://schemas.microsoft.com/office/drawing/2014/main" val="2165761627"/>
                    </a:ext>
                  </a:extLst>
                </a:gridCol>
                <a:gridCol w="315997">
                  <a:extLst>
                    <a:ext uri="{9D8B030D-6E8A-4147-A177-3AD203B41FA5}">
                      <a16:colId xmlns:a16="http://schemas.microsoft.com/office/drawing/2014/main" val="458061831"/>
                    </a:ext>
                  </a:extLst>
                </a:gridCol>
              </a:tblGrid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법인코드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법인명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매입처코드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매입처명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최초 거래일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최종거래일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건수 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369708041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psgb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Maple City Council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Ladybug Headquarter Supplies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2014/05/05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110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2563799507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psgb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Maple City Council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Office Supplies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2014/05/05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107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375100008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psgb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Maple City Council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4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Respected Ox Services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2014/05/05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107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886478753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Washington tax authority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2014/06/25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291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3698767441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Ladybug Headquarter Supplies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2014/08/05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2017/01/05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95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86481539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4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Office Supplies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2014/08/05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2017/01/05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95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2779954157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Payroll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2014/06/25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</a:t>
                      </a:r>
                      <a:r>
                        <a:rPr lang="en-US" altLang="ko-KR" sz="600" u="none" strike="noStrike">
                          <a:effectLst/>
                        </a:rPr>
                        <a:t>10,332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005719565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Respected Ox Services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2014/08/05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2017/01/05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96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615421839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Federal tax authority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2014/06/25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</a:t>
                      </a:r>
                      <a:r>
                        <a:rPr lang="en-US" altLang="ko-KR" sz="600" u="none" strike="noStrike">
                          <a:effectLst/>
                        </a:rPr>
                        <a:t>1,032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2238135999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Group Insurance Provider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2014/06/25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</a:t>
                      </a:r>
                      <a:r>
                        <a:rPr lang="en-US" altLang="ko-KR" sz="600" u="none" strike="noStrike">
                          <a:effectLst/>
                        </a:rPr>
                        <a:t>1,032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544200311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9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Retirement Administrator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2014/06/25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360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2838253509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11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Police Officers Association of America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2014/08/06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181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803304270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12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Firefighters Association of America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2014/06/25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192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3709693447"/>
                  </a:ext>
                </a:extLst>
              </a:tr>
              <a:tr h="115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psus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City of Maple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15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Maple Bond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2015/06/30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2018/06/30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  </a:t>
                      </a:r>
                      <a:r>
                        <a:rPr lang="en-US" altLang="ko-KR" sz="600" u="none" strike="noStrike">
                          <a:effectLst/>
                        </a:rPr>
                        <a:t>4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4232652988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Russia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RUMF-000002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z-Cyrl-AZ" sz="600" u="none" strike="noStrike">
                          <a:effectLst/>
                        </a:rPr>
                        <a:t>Корпорация Я.Дата ООО</a:t>
                      </a:r>
                      <a:endParaRPr lang="az-Cyrl-AZ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2015/01/26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96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2050565852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Russia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RUMF-000003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z-Cyrl-AZ" sz="600" u="none" strike="noStrike">
                          <a:effectLst/>
                        </a:rPr>
                        <a:t>Фабрикам ООО</a:t>
                      </a:r>
                      <a:endParaRPr lang="az-Cyrl-AZ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2015/01/27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50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322532478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Russia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RUMF-000004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z-Cyrl-AZ" sz="600" u="none" strike="noStrike">
                          <a:effectLst/>
                        </a:rPr>
                        <a:t>Городские осветительные системы ООО</a:t>
                      </a:r>
                      <a:endParaRPr lang="az-Cyrl-AZ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2015/01/16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2016/12/06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120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2543690282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Russia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RUMF-000005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z-Cyrl-AZ" sz="600" u="none" strike="noStrike">
                          <a:effectLst/>
                        </a:rPr>
                        <a:t>СпецСветСнабСбыт ГУП</a:t>
                      </a:r>
                      <a:endParaRPr lang="az-Cyrl-AZ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2015/01/01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2015/01/17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15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370677220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Russia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RUMF-000006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z-Cyrl-AZ" sz="600" u="none" strike="noStrike">
                          <a:effectLst/>
                        </a:rPr>
                        <a:t>СаундКорп ООО</a:t>
                      </a:r>
                      <a:endParaRPr lang="az-Cyrl-AZ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2015/01/26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2016/12/27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</a:t>
                      </a:r>
                      <a:r>
                        <a:rPr lang="en-US" altLang="ko-KR" sz="600" u="none" strike="noStrike">
                          <a:effectLst/>
                        </a:rPr>
                        <a:t>96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4099719649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Russia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RUMF-000009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600" u="none" strike="noStrike">
                          <a:effectLst/>
                        </a:rPr>
                        <a:t>Управление Федерального казначейства по г. Москве (ИФНС России № 9 по г.Москве)</a:t>
                      </a:r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2015/03/31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2016/12/06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</a:t>
                      </a:r>
                      <a:r>
                        <a:rPr lang="en-US" altLang="ko-KR" sz="600" u="none" strike="noStrike">
                          <a:effectLst/>
                        </a:rPr>
                        <a:t>107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559468827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Saudi Arabia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SAMF-000002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Nama Chemicals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2016/06/10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  </a:t>
                      </a:r>
                      <a:r>
                        <a:rPr lang="en-US" altLang="ko-KR" sz="600" u="none" strike="noStrike">
                          <a:effectLst/>
                        </a:rPr>
                        <a:t>5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3542000906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thmf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Thailand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THMF-00002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Fabrikam TH Ltd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2016/07/10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  </a:t>
                      </a:r>
                      <a:r>
                        <a:rPr lang="en-US" altLang="ko-KR" sz="600" u="none" strike="noStrike">
                          <a:effectLst/>
                        </a:rPr>
                        <a:t>3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1714020894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thmf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Thailand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THMF-00003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Tailspin TH Parts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2016/06/02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  </a:t>
                      </a:r>
                      <a:r>
                        <a:rPr lang="en-US" altLang="ko-KR" sz="600" u="none" strike="noStrike">
                          <a:effectLst/>
                        </a:rPr>
                        <a:t>2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3088245768"/>
                  </a:ext>
                </a:extLst>
              </a:tr>
              <a:tr h="17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thmf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Contoso Entertainment System Thailand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THMF-00004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OPS Group of Companies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2016/06/08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2016/09/20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          </a:t>
                      </a:r>
                      <a:r>
                        <a:rPr lang="en-US" altLang="ko-KR" sz="600" u="none" strike="noStrike">
                          <a:effectLst/>
                        </a:rPr>
                        <a:t>3 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92" marR="3292" marT="3292" marB="0" anchor="ctr"/>
                </a:tc>
                <a:extLst>
                  <a:ext uri="{0D108BD9-81ED-4DB2-BD59-A6C34878D82A}">
                    <a16:rowId xmlns:a16="http://schemas.microsoft.com/office/drawing/2014/main" val="31376048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1A26B0A-3FD5-210D-F32A-44579902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26762"/>
              </p:ext>
            </p:extLst>
          </p:nvPr>
        </p:nvGraphicFramePr>
        <p:xfrm>
          <a:off x="3296816" y="3076139"/>
          <a:ext cx="4063282" cy="3707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422">
                  <a:extLst>
                    <a:ext uri="{9D8B030D-6E8A-4147-A177-3AD203B41FA5}">
                      <a16:colId xmlns:a16="http://schemas.microsoft.com/office/drawing/2014/main" val="879886423"/>
                    </a:ext>
                  </a:extLst>
                </a:gridCol>
                <a:gridCol w="903755">
                  <a:extLst>
                    <a:ext uri="{9D8B030D-6E8A-4147-A177-3AD203B41FA5}">
                      <a16:colId xmlns:a16="http://schemas.microsoft.com/office/drawing/2014/main" val="2853986319"/>
                    </a:ext>
                  </a:extLst>
                </a:gridCol>
                <a:gridCol w="477183">
                  <a:extLst>
                    <a:ext uri="{9D8B030D-6E8A-4147-A177-3AD203B41FA5}">
                      <a16:colId xmlns:a16="http://schemas.microsoft.com/office/drawing/2014/main" val="1616203610"/>
                    </a:ext>
                  </a:extLst>
                </a:gridCol>
                <a:gridCol w="1250797">
                  <a:extLst>
                    <a:ext uri="{9D8B030D-6E8A-4147-A177-3AD203B41FA5}">
                      <a16:colId xmlns:a16="http://schemas.microsoft.com/office/drawing/2014/main" val="2147993435"/>
                    </a:ext>
                  </a:extLst>
                </a:gridCol>
                <a:gridCol w="390422">
                  <a:extLst>
                    <a:ext uri="{9D8B030D-6E8A-4147-A177-3AD203B41FA5}">
                      <a16:colId xmlns:a16="http://schemas.microsoft.com/office/drawing/2014/main" val="1918039947"/>
                    </a:ext>
                  </a:extLst>
                </a:gridCol>
                <a:gridCol w="390422">
                  <a:extLst>
                    <a:ext uri="{9D8B030D-6E8A-4147-A177-3AD203B41FA5}">
                      <a16:colId xmlns:a16="http://schemas.microsoft.com/office/drawing/2014/main" val="2892045716"/>
                    </a:ext>
                  </a:extLst>
                </a:gridCol>
                <a:gridCol w="260281">
                  <a:extLst>
                    <a:ext uri="{9D8B030D-6E8A-4147-A177-3AD203B41FA5}">
                      <a16:colId xmlns:a16="http://schemas.microsoft.com/office/drawing/2014/main" val="1936142414"/>
                    </a:ext>
                  </a:extLst>
                </a:gridCol>
              </a:tblGrid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법인코드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법인명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매입처코드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 err="1">
                          <a:effectLst/>
                        </a:rPr>
                        <a:t>매입처명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최초 거래일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최종거래일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건수 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753534969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Acme Office Supplies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2017/09/13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38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054623415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Lande Packaging Supplies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2017/09/12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010132927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Ade Supply Company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2017/02/06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2020/07/23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179990374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Asia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6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375329913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Chemicals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586626543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Payroll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Payroll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2015/12/28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</a:t>
                      </a:r>
                      <a:r>
                        <a:rPr lang="en-US" altLang="ko-KR" sz="500" u="none" strike="noStrike">
                          <a:effectLst/>
                        </a:rPr>
                        <a:t>5,838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472152497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US_TX_017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North Dakota State Tax Authority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2017/06/21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2017/06/21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298532612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US_TX_023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Federal Tax Authority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2015/12/28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2017/07/22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</a:t>
                      </a:r>
                      <a:r>
                        <a:rPr lang="en-US" altLang="ko-KR" sz="500" u="none" strike="noStrike">
                          <a:effectLst/>
                        </a:rPr>
                        <a:t>331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978086187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Fabrikam Electronics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2016/10/22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2023/02/18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26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413723980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Tailspin Parts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2023/04/03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207873820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Rain Projectors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2017/06/17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2023/06/02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17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677384553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Fabrikam Supplier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2015/07/01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2023/05/03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26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528700409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Datum Receivers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2023/05/18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16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564220124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Humongous Insurance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2015/12/28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2023/06/02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</a:t>
                      </a:r>
                      <a:r>
                        <a:rPr lang="en-US" altLang="ko-KR" sz="500" u="none" strike="noStrike">
                          <a:effectLst/>
                        </a:rPr>
                        <a:t>1,823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837289303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Idaho Department of Family Services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2016/09/30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2023/06/17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42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918130489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City Power &amp; Light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2015/01/04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2023/05/03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</a:t>
                      </a:r>
                      <a:r>
                        <a:rPr lang="en-US" altLang="ko-KR" sz="500" u="none" strike="noStrike">
                          <a:effectLst/>
                        </a:rPr>
                        <a:t>152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321092002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Property Management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2015/01/04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2020/11/19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</a:t>
                      </a:r>
                      <a:r>
                        <a:rPr lang="en-US" altLang="ko-KR" sz="500" u="none" strike="noStrike">
                          <a:effectLst/>
                        </a:rPr>
                        <a:t>113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1877236471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City-wide Advertising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2015/01/03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2022/12/14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</a:t>
                      </a:r>
                      <a:r>
                        <a:rPr lang="en-US" altLang="ko-KR" sz="500" u="none" strike="noStrike">
                          <a:effectLst/>
                        </a:rPr>
                        <a:t>102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1019431926"/>
                  </a:ext>
                </a:extLst>
              </a:tr>
              <a:tr h="141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usmf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Entertainment System USA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office supply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2017/06/02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2023/12/29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17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439545708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Orange Juice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The Sweet Oranges Group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2017/02/01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16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142668159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Orange Juice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Pack Packaging Ltd.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182932119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Orange Juice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Add Ingredients Inc.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2017/02/01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18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2049854282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Orange Juice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Waterworks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2016/10/06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2017/01/04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</a:t>
                      </a:r>
                      <a:r>
                        <a:rPr lang="en-US" altLang="ko-KR" sz="500" u="none" strike="noStrike">
                          <a:effectLst/>
                        </a:rPr>
                        <a:t>14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1594660120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Process Industry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CN-001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Asia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2016/12/09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1663491256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Process Industry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JP-001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Chemicals Japan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219247571"/>
                  </a:ext>
                </a:extLst>
              </a:tr>
              <a:tr h="9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uspi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Contoso Process Industry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US-102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Tailspin Parts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2016/11/30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2016/12/15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          </a:t>
                      </a:r>
                      <a:r>
                        <a:rPr lang="en-US" altLang="ko-KR" sz="500" u="none" strike="noStrike">
                          <a:effectLst/>
                        </a:rPr>
                        <a:t>2 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712" marR="2712" marT="2712" marB="0" anchor="ctr"/>
                </a:tc>
                <a:extLst>
                  <a:ext uri="{0D108BD9-81ED-4DB2-BD59-A6C34878D82A}">
                    <a16:rowId xmlns:a16="http://schemas.microsoft.com/office/drawing/2014/main" val="329516370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E5200F5-4138-D69B-95D7-978156681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370214"/>
              </p:ext>
            </p:extLst>
          </p:nvPr>
        </p:nvGraphicFramePr>
        <p:xfrm>
          <a:off x="3728864" y="3219397"/>
          <a:ext cx="6142890" cy="3449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242">
                  <a:extLst>
                    <a:ext uri="{9D8B030D-6E8A-4147-A177-3AD203B41FA5}">
                      <a16:colId xmlns:a16="http://schemas.microsoft.com/office/drawing/2014/main" val="941614788"/>
                    </a:ext>
                  </a:extLst>
                </a:gridCol>
                <a:gridCol w="1366301">
                  <a:extLst>
                    <a:ext uri="{9D8B030D-6E8A-4147-A177-3AD203B41FA5}">
                      <a16:colId xmlns:a16="http://schemas.microsoft.com/office/drawing/2014/main" val="706335106"/>
                    </a:ext>
                  </a:extLst>
                </a:gridCol>
                <a:gridCol w="721407">
                  <a:extLst>
                    <a:ext uri="{9D8B030D-6E8A-4147-A177-3AD203B41FA5}">
                      <a16:colId xmlns:a16="http://schemas.microsoft.com/office/drawing/2014/main" val="3044827276"/>
                    </a:ext>
                  </a:extLst>
                </a:gridCol>
                <a:gridCol w="1890961">
                  <a:extLst>
                    <a:ext uri="{9D8B030D-6E8A-4147-A177-3AD203B41FA5}">
                      <a16:colId xmlns:a16="http://schemas.microsoft.com/office/drawing/2014/main" val="2033770375"/>
                    </a:ext>
                  </a:extLst>
                </a:gridCol>
                <a:gridCol w="590242">
                  <a:extLst>
                    <a:ext uri="{9D8B030D-6E8A-4147-A177-3AD203B41FA5}">
                      <a16:colId xmlns:a16="http://schemas.microsoft.com/office/drawing/2014/main" val="814450936"/>
                    </a:ext>
                  </a:extLst>
                </a:gridCol>
                <a:gridCol w="590242">
                  <a:extLst>
                    <a:ext uri="{9D8B030D-6E8A-4147-A177-3AD203B41FA5}">
                      <a16:colId xmlns:a16="http://schemas.microsoft.com/office/drawing/2014/main" val="3845639652"/>
                    </a:ext>
                  </a:extLst>
                </a:gridCol>
                <a:gridCol w="393495">
                  <a:extLst>
                    <a:ext uri="{9D8B030D-6E8A-4147-A177-3AD203B41FA5}">
                      <a16:colId xmlns:a16="http://schemas.microsoft.com/office/drawing/2014/main" val="3069306764"/>
                    </a:ext>
                  </a:extLst>
                </a:gridCol>
              </a:tblGrid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법인코드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법인명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매입처코드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매입처명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최초 거래일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최종거래일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건수 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072461308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A. Datum Corporation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2017/06/30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230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2399533929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Fabrikam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2016/12/28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224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2514839827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Litware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2017/06/04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227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387704299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Northwind Traders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2016/12/28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</a:t>
                      </a:r>
                      <a:r>
                        <a:rPr lang="en-US" altLang="ko-KR" sz="700" u="none" strike="noStrike">
                          <a:effectLst/>
                        </a:rPr>
                        <a:t>2,150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197601557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Proseware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2016/11/30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221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3075592926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Southridge Video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2016/12/27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224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9717789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The Phone Company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2016/12/26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224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3041417876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Wide World Importers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2016/12/27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223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4051760190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usrt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Retail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1009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Property Management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2017/06/30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2017/06/30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ko-KR" sz="700" u="none" strike="noStrike">
                          <a:effectLst/>
                        </a:rPr>
                        <a:t>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2266602000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US_SI_000006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Capable Sales and Service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2015/03/29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2017/07/09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44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585082798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US_SI_000007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Countryside Company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2017/05/17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2017/07/14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ko-KR" sz="700" u="none" strike="noStrike">
                          <a:effectLst/>
                        </a:rPr>
                        <a:t>6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955909278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US_SI_000008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Distant Inn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2015/03/29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2017/08/05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35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762088184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US_SI_000009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Exconomics Part Supply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2015/03/29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2017/06/30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37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822587792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Executive Discount Store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2015/03/01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2016/12/14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32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2959267695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General Associates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2017/01/09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168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325722569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Hardware Components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2017/09/26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ko-KR" sz="700" u="none" strike="noStrike">
                          <a:effectLst/>
                        </a:rPr>
                        <a:t>169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3670423214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US_SI_000015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Industrial Supplies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2015/02/01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2016/12/31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32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3981716535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Local Hardware Factory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2015/03/01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2017/01/07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88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517214483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US_SI_000020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Selected Distributors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2015/01/04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2017/01/21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91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2981923991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US_SI_000021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Superior Hardware Distributors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2015/02/16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2016/12/31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61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589822040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US_SI_000025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Julia Funderburk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2019/02/26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2019/02/26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ko-KR" sz="700" u="none" strike="noStrike">
                          <a:effectLst/>
                        </a:rPr>
                        <a:t>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449616163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CompanyCC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2017/04/06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2017/05/10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</a:t>
                      </a:r>
                      <a:r>
                        <a:rPr lang="en-US" altLang="ko-KR" sz="700" u="none" strike="noStrike">
                          <a:effectLst/>
                        </a:rPr>
                        <a:t>14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242138104"/>
                  </a:ext>
                </a:extLst>
              </a:tr>
              <a:tr h="143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Contoso Consulting USA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US_SI_000029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Kim Nelson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2017/05/10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u="none" strike="noStrike">
                          <a:effectLst/>
                        </a:rPr>
                        <a:t>2017/05/10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ko-KR" sz="700" u="none" strike="noStrike">
                          <a:effectLst/>
                        </a:rPr>
                        <a:t>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099" marR="4099" marT="4099" marB="0" anchor="ctr"/>
                </a:tc>
                <a:extLst>
                  <a:ext uri="{0D108BD9-81ED-4DB2-BD59-A6C34878D82A}">
                    <a16:rowId xmlns:a16="http://schemas.microsoft.com/office/drawing/2014/main" val="16194251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DC6D44-4937-D7A4-F160-7C53150066DA}"/>
              </a:ext>
            </a:extLst>
          </p:cNvPr>
          <p:cNvSpPr txBox="1"/>
          <p:nvPr/>
        </p:nvSpPr>
        <p:spPr>
          <a:xfrm>
            <a:off x="56456" y="-16351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FF00"/>
                </a:solidFill>
              </a:rPr>
              <a:t>데이터 현황</a:t>
            </a:r>
          </a:p>
        </p:txBody>
      </p:sp>
    </p:spTree>
    <p:extLst>
      <p:ext uri="{BB962C8B-B14F-4D97-AF65-F5344CB8AC3E}">
        <p14:creationId xmlns:p14="http://schemas.microsoft.com/office/powerpoint/2010/main" val="3274517843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58FD3B7247FEF40B1DCEB49B841F053" ma:contentTypeVersion="10" ma:contentTypeDescription="새 문서를 만듭니다." ma:contentTypeScope="" ma:versionID="fb8299bbed4889487e6f053a3ec14bf6">
  <xsd:schema xmlns:xsd="http://www.w3.org/2001/XMLSchema" xmlns:xs="http://www.w3.org/2001/XMLSchema" xmlns:p="http://schemas.microsoft.com/office/2006/metadata/properties" xmlns:ns3="e3628f3b-75d2-4b82-b7f4-6a6f5f43e01a" xmlns:ns4="1a9b5af9-4221-4206-8fd8-9c500b13d443" targetNamespace="http://schemas.microsoft.com/office/2006/metadata/properties" ma:root="true" ma:fieldsID="2a27bfa1666bfe4f3cb293b62894c784" ns3:_="" ns4:_="">
    <xsd:import namespace="e3628f3b-75d2-4b82-b7f4-6a6f5f43e01a"/>
    <xsd:import namespace="1a9b5af9-4221-4206-8fd8-9c500b13d44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628f3b-75d2-4b82-b7f4-6a6f5f43e0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9b5af9-4221-4206-8fd8-9c500b13d44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EFD077-2EF1-4EAE-BD70-554AEEA0C3C8}">
  <ds:schemaRefs>
    <ds:schemaRef ds:uri="1a9b5af9-4221-4206-8fd8-9c500b13d443"/>
    <ds:schemaRef ds:uri="e3628f3b-75d2-4b82-b7f4-6a6f5f43e0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42C0F13-60BD-4B3E-9F47-423A313AD8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8A8202-E841-4A24-BED5-1C2008B8921D}">
  <ds:schemaRefs>
    <ds:schemaRef ds:uri="1a9b5af9-4221-4206-8fd8-9c500b13d443"/>
    <ds:schemaRef ds:uri="e3628f3b-75d2-4b82-b7f4-6a6f5f43e01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Application>Microsoft Office PowerPoint</Application>
  <PresentationFormat>A4 Paper (210x297 mm)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갤러리</vt:lpstr>
      <vt:lpstr>1. Co-Pilot Prompt</vt:lpstr>
      <vt:lpstr>1. Co-Pilot Prompt</vt:lpstr>
      <vt:lpstr>1. Co-Pilot Prompt</vt:lpstr>
      <vt:lpstr>1. Co-Pilot Prompt</vt:lpstr>
      <vt:lpstr>1. Co-Pilot Prompt</vt:lpstr>
      <vt:lpstr>1. Co-Pilot Prompt</vt:lpstr>
      <vt:lpstr>1. Co-Pilot Prompt</vt:lpstr>
      <vt:lpstr>1. Co-Pilot Prompt</vt:lpstr>
      <vt:lpstr>1. Co-Pilot Prompt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DTR Korea General Introduction</dc:title>
  <dc:creator>Ryan Song</dc:creator>
  <cp:revision>1</cp:revision>
  <cp:lastPrinted>2025-01-20T03:42:00Z</cp:lastPrinted>
  <dcterms:created xsi:type="dcterms:W3CDTF">2016-05-14T16:06:05Z</dcterms:created>
  <dcterms:modified xsi:type="dcterms:W3CDTF">2025-11-18T09:10:08Z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0x010100658FD3B7247FEF40B1DCEB49B841F053</vt:lpwstr>
  </property>
</Properties>
</file>